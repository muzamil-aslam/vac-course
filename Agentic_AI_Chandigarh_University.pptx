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657600" cy="365760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INSTITUTE OF MANAGEMENT  ·  CHANDIGARH UNIVERSITY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Intelligent Response to Autonomous Action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Person: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Muzamil Aslam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Session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two-hour session structured to build understanding step by step — from core definitions to the internal mechanics that power real autonomous AI systems.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417820" cy="1668780"/>
          </a:xfrm>
          <a:prstGeom prst="roundRect">
            <a:avLst>
              <a:gd name="adj" fmla="val 4384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248716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1 — Foundations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834640"/>
            <a:ext cx="5088636" cy="1101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Agent · What is Agentic AI · How it Works · The Agent Lifecycle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5060" y="2377440"/>
            <a:ext cx="5417820" cy="1668780"/>
          </a:xfrm>
          <a:prstGeom prst="roundRect">
            <a:avLst>
              <a:gd name="adj" fmla="val 4384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59652" y="248716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2 — Deep Dive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9652" y="2834640"/>
            <a:ext cx="5088636" cy="1101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Agents · Planning &amp; Execution Mechanisms · Memory &amp; Contextual Intelligence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274820"/>
            <a:ext cx="5417820" cy="1668780"/>
          </a:xfrm>
          <a:prstGeom prst="roundRect">
            <a:avLst>
              <a:gd name="adj" fmla="val 4384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3232" y="438454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Throughout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4732020"/>
            <a:ext cx="5088636" cy="1101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diagrams and real-world examples connecting theory to working systems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5060" y="4274820"/>
            <a:ext cx="5417820" cy="1668780"/>
          </a:xfrm>
          <a:prstGeom prst="roundRect">
            <a:avLst>
              <a:gd name="adj" fmla="val 4384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59652" y="438454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9652" y="4732020"/>
            <a:ext cx="5088636" cy="1101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key takeaways followed by open discussion and Q&amp;A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Agentic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evolved through distinct eras: from rule-based systems that only followed instructions, to Generative AI that creates content on request, to today's frontier — Agentic AI, where systems independently decide what to do, plan how, and act to achieve a goal.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marks the shift from AI that responds to AI that acts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reasoning (LLMs), memory, tools, and autonomy into one system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products like AI coding assistants, research agents, and automated workflows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builds the theory needed to design and evaluate such systems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Automation to Agentic 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Agentic AI requires seeing where it fits in the broader evolution of intelligent systems.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14884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74670" y="21488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94710" y="214884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0430" y="214884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20740" y="21488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40780" y="214884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86500" y="214884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766810" y="21488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086850" y="214884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32570" y="214884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fixed if-then logic, no learning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learns patterns from data, still needs human-defined tasks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AI: creates text, images, and code from prompts (e.g., ChatGPT)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AI: sets sub-goals, uses tools, remembers context, and acts with minimal supervision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Agent?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🧩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 and computer science, an agent is any entity that perceives its environment through sensors and acts upon that environment through actuators to achieve a specific goal.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definition: “anything that can perceive its environment and act upon it” (Russell &amp; Norvig)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beyond AI chatbots: a thermostat, a self-driving car, a trading bot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operates in a continuous cycle: Perceive → Decide → Act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'intelligence' of an agent depends on how well it decides, not just how it acts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Properties of an Agent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defining properties distinguish a true agent from a simple program — plus two more that separate strong agents from basic ones.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35680" cy="1760220"/>
          </a:xfrm>
          <a:prstGeom prst="roundRect">
            <a:avLst>
              <a:gd name="adj" fmla="val 4156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2350008"/>
            <a:ext cx="3206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697480"/>
            <a:ext cx="320649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without continuous human control once given a goal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2920" y="2240280"/>
            <a:ext cx="3535680" cy="1760220"/>
          </a:xfrm>
          <a:prstGeom prst="roundRect">
            <a:avLst>
              <a:gd name="adj" fmla="val 4156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77512" y="2350008"/>
            <a:ext cx="3206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77512" y="2697480"/>
            <a:ext cx="320649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Perceives its environment and responds to changes in real time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77200" y="2240280"/>
            <a:ext cx="3535680" cy="1760220"/>
          </a:xfrm>
          <a:prstGeom prst="roundRect">
            <a:avLst>
              <a:gd name="adj" fmla="val 4156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41792" y="2350008"/>
            <a:ext cx="3206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Proactiveness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41792" y="2697480"/>
            <a:ext cx="320649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initiative to pursue goals, not just react to events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29100"/>
            <a:ext cx="3535680" cy="1760220"/>
          </a:xfrm>
          <a:prstGeom prst="roundRect">
            <a:avLst>
              <a:gd name="adj" fmla="val 4156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13232" y="4338828"/>
            <a:ext cx="3206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Ability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686300"/>
            <a:ext cx="320649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Interacts with other agents, tools, APIs, or humans as needed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12920" y="4229100"/>
            <a:ext cx="3535680" cy="1760220"/>
          </a:xfrm>
          <a:prstGeom prst="roundRect">
            <a:avLst>
              <a:gd name="adj" fmla="val 4156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77512" y="4338828"/>
            <a:ext cx="3206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77512" y="4686300"/>
            <a:ext cx="320649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operating over time, not a single one-shot execution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77200" y="4229100"/>
            <a:ext cx="3535680" cy="1760220"/>
          </a:xfrm>
          <a:prstGeom prst="roundRect">
            <a:avLst>
              <a:gd name="adj" fmla="val 4156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41792" y="4338828"/>
            <a:ext cx="3206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Adaptability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41792" y="4686300"/>
            <a:ext cx="320649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its plan when the environment or goal changes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vs. Traditional Software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contrast below highlights why agents represent a fundamentally different design philosophy.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17820" cy="3657600"/>
          </a:xfrm>
          <a:prstGeom prst="roundRect">
            <a:avLst>
              <a:gd name="adj" fmla="val 2000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239572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Software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743200"/>
            <a:ext cx="508863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fixed instructions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decision-making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silently on unexpected input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explicit code for every case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5060" y="2286000"/>
            <a:ext cx="5417820" cy="3657600"/>
          </a:xfrm>
          <a:prstGeom prst="roundRect">
            <a:avLst>
              <a:gd name="adj" fmla="val 2000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59652" y="239572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9652" y="2743200"/>
            <a:ext cx="508863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and pursues goals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about the best next step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unexpected situations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/ updates its approach using context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Agentic AI?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refers to AI systems — typically built on Large Language Models (LLMs) — that can independently plan, decide, use tools, and take multi-step actions to accomplish a goal with minimal human intervention.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single model, but an architecture: LLM + Memory + Tools + Planning logic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goal like 'book me the cheapest flight,' the agent breaks it down and executes it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itself through goal persistence — it keeps working until the objective is met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foundation of AI copilots, research assistants, and autonomous workflow bots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vs Generative AI vs Traditional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35680" cy="4114800"/>
          </a:xfrm>
          <a:prstGeom prst="roundRect">
            <a:avLst>
              <a:gd name="adj" fmla="val 2069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2029968"/>
            <a:ext cx="3206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377440"/>
            <a:ext cx="3206496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/ logic based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task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from new data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outputs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2920" y="1920240"/>
            <a:ext cx="3535680" cy="4114800"/>
          </a:xfrm>
          <a:prstGeom prst="roundRect">
            <a:avLst>
              <a:gd name="adj" fmla="val 2069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77512" y="2029968"/>
            <a:ext cx="3206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77512" y="2377440"/>
            <a:ext cx="3206496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text / image / code on prompt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response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action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drives every step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77200" y="1920240"/>
            <a:ext cx="3535680" cy="4114800"/>
          </a:xfrm>
          <a:prstGeom prst="roundRect">
            <a:avLst>
              <a:gd name="adj" fmla="val 2069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41792" y="2029968"/>
            <a:ext cx="3206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41792" y="2377440"/>
            <a:ext cx="3206496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 &amp; memory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autonomously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Pursues goals over time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Characteristics of Agentic 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Goal-Directed: works toward a defined outcome, not just a single reply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Autonomous: chooses its own steps without step-by-step instructions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Tool-Using: calls external APIs, databases, or software to extend its ability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Context-Aware: uses memory to maintain continuity across a task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Reflective: can evaluate its own output and self-correct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60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Multi-Step: executes a sequence of actions, not a single-shot response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Agentic AI Works —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system is built from four cooperating components that together enable autonomous behaviour.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0574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74670" y="20574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94710" y="20574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0430" y="20574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20740" y="20574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40780" y="20574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86500" y="20574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766810" y="20574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086850" y="20574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32570" y="20574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0040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the user's goal or an environmental trigger enters the system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Core (LLM): interprets the goal and plans the next step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Actions: the agent executes real actions — search, code, API calls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results flow back in, updating the agent's next decision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Perceive–Reason–Act Loop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heart of every agent is a repeating control loop, executed continuously until the goal is achieved.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0574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74670" y="20574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94710" y="20574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0430" y="20574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20740" y="20574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40780" y="20574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86500" y="20574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766810" y="20574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086850" y="20574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32570" y="20574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0040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Perceive: gather current state — user input, sensor data, tool output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the LLM evaluates the state against the goal and picks the next action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the chosen action is executed (a tool call, a message, a code run)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the outcome feeds back into perception, and the loop repeats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as the Reasoning Engine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Language Model is the 'brain' of the agent — it does not act directly on the world, but decides what should happen next.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natural-language goals and breaks them into actionable steps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which tool or function is appropriate for the current step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techniques like Chain-of-Thought to reason before acting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quality directly determines how well the agent plans and recovers from errors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APIs &amp; Function Calling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🛠️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alone can only generate text — tools are what let an agent actually affect the world.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calling: the LLM outputs a structured request (e.g., search_web(query))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framework executes that function and returns the result to the LLM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tools: web search, code execution, database queries, calendar / email APIs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layer is what turns a chatbot into a system capable of real-world action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0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Lifecycle —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agent, regardless of task, moves through four broad lifecycle stages from receiving a goal to completing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2860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Perception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74670" y="22860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94710" y="22860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0430" y="22860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Planning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20740" y="22860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40780" y="22860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86500" y="22860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Execution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766810" y="228600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086850" y="228600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32570" y="228600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Learning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7472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 is cyclical, not linear — agents often revisit earlier stages.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examine each stage in detail over the next four slides.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LIFECYCLE · STAGE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 &amp; Input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👁️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 begins with the agent gathering everything it needs to understand the current situation.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user's goal or task instruction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in relevant context: conversation history, files, sensor / API data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noise and identifies what is actually relevant to the goal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perception directly limits the quality of every later stage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LIFECYCLE · STAGE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&amp; Planning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🧭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situation understood, the agent must decide on a course of action.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overall goal into smaller, manageable sub-tasks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available tools and past experience (memory) when choosing steps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generate multiple candidate plans and select the most promising one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reasoning techniques such as Chain-of-Thought or ReAct (covered later)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LIFECYCLE · STAGE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&amp; Execution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put into motion — this is where the agent interacts with the real world.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tool calls, API requests, or code as decided in the planning stage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execution in real time — some steps may run in parallel or sequence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errors gracefully: retries, alternative tools, or asks for clarification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intermediate results that feed the next reasoning cycle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LIFECYCLE · STAGE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&amp;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acting, the agent evaluates the outcome and updates its understanding before the loop repeats.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actual result against the intended goal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useful outcomes in memory for future reasoning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its plan if the goal is not yet achieved, looping back to reasoning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many cycles, this feedback improves the agent's effectiveness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TAXONOMY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Agents —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differ in how much reasoning they perform before acting. We will explore four major categories.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17820" cy="1714500"/>
          </a:xfrm>
          <a:prstGeom prst="roundRect">
            <a:avLst>
              <a:gd name="adj" fmla="val 4267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239572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Agents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743200"/>
            <a:ext cx="5088636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instantly on current input, no internal planning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5060" y="2286000"/>
            <a:ext cx="5417820" cy="1714500"/>
          </a:xfrm>
          <a:prstGeom prst="roundRect">
            <a:avLst>
              <a:gd name="adj" fmla="val 4267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59652" y="239572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Deliberative Agents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9652" y="2743200"/>
            <a:ext cx="5088636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follow an explicit plan before acting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229100"/>
            <a:ext cx="5417820" cy="1714500"/>
          </a:xfrm>
          <a:prstGeom prst="roundRect">
            <a:avLst>
              <a:gd name="adj" fmla="val 4267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3232" y="433882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Agents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4686300"/>
            <a:ext cx="5088636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fast reaction with deeper planning as needed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5060" y="4229100"/>
            <a:ext cx="5417820" cy="1714500"/>
          </a:xfrm>
          <a:prstGeom prst="roundRect">
            <a:avLst>
              <a:gd name="adj" fmla="val 4267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359652" y="433882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9652" y="4686300"/>
            <a:ext cx="5088636" cy="1147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specialised agents collaborating on one goal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TYPES OF AGENTS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category: these agents map perceptions directly to actions using fixed condition–action rules, with no internal model of the world.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immediately based on current input — 'if X, then do Y'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the past and no planning ahead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predictable, but cannot handle novel or complex situations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simple customer-support bot answering FAQs with fixed replies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TYPES OF AGENTS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Deliberative (Planning)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🧭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agents build an internal model of the world and reason before acting, enabling them to handle complex, multi-step goals.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 internal representation of the current state and desired goal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sequence of actions (a plan) before executing anything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evaluate trade-offs between different possible action sequences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AI travel-planning agent sequencing flights, hotels, and transport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TYPES OF AGENTS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Agents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agents combine the speed of reactive behaviour with the depth of deliberative planning, switching modes as the situation demands.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reactive responses for routine, time-sensitive situations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deliberative planning when the task is complex or novel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modern LLM-based agents (e.g., coding assistants) are hybrid in nature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responsiveness with the ability to solve harder problems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TYPES OF AGENTS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🕸️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agent doing everything, complex tasks can be divided among several specialised agents that communicate and collaborate.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defined role — e.g., 'Researcher', 'Coder', 'Reviewer'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coordinate via message passing or a shared orchestrator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division of labour and parallel processing of sub-tasks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AI software team where one agent writes code and another tests it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PLANNING &amp; EXECUTION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&amp; Execution Mechanisms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🧭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agent decides to plan, it needs concrete mechanisms to turn a goal into an ordered set of executable actions.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transforms a vague goal into a structured, step-by-step approach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mechanisms manage how those steps are actually carried out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determine an agent's reliability on complex, multi-step tasks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two widely used mechanisms — Task Decomposition and the ReAct framework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PLANNING &amp; EXECUTION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Decomposition &amp; Chain-of-Thought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goals are rarely solved in one step — they must be broken down.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17820" cy="3657600"/>
          </a:xfrm>
          <a:prstGeom prst="roundRect">
            <a:avLst>
              <a:gd name="adj" fmla="val 2000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239572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Decomposition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743200"/>
            <a:ext cx="508863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large goal into smaller, ordered sub-goals.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'Plan a conference' → venue, budget, speakers, schedule, promotion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5060" y="2286000"/>
            <a:ext cx="5417820" cy="3657600"/>
          </a:xfrm>
          <a:prstGeom prst="roundRect">
            <a:avLst>
              <a:gd name="adj" fmla="val 2000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59652" y="239572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(CoT)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9652" y="2743200"/>
            <a:ext cx="508863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 step-by-step in text before answering.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accuracy on multi-step problems by making intermediate reasoning explicit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PLANNING &amp; EXECUTION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ReAct Framework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(Reason + Act) is a widely used pattern that interleaves reasoning with action, rather than planning everything upfront.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14884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74670" y="21488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94710" y="214884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0430" y="214884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20740" y="21488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40780" y="214884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86500" y="214884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766810" y="214884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086850" y="2148840"/>
            <a:ext cx="2526030" cy="777240"/>
          </a:xfrm>
          <a:prstGeom prst="roundRect">
            <a:avLst>
              <a:gd name="adj" fmla="val 11765"/>
            </a:avLst>
          </a:prstGeom>
          <a:solidFill>
            <a:srgbClr val="7A0C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32570" y="2148840"/>
            <a:ext cx="24345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Thought…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generates a 'Thought' explaining its next intended step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then takes an 'Action' (a tool call) based on that thought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becomes an 'Observation,' which informs the next Thought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continues until the goal is reached — enabling adaptive, error-correcting behaviour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MEMORY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&amp; Contextual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7276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allows an agent to maintain continuity, learn from experience, and behave intelligently across a long or multi-session task rather than treating every step as brand new.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0881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memory, an agent forgets everything after each response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allows personalization, consistency, and learning from past actions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intelligence = combining memory with real-time perception to act appropriately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agents handling long, multi-step, or ongoing tasks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MEMORY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2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vs Long-Term Memory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is typically designed in layers, similar to human cognition.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17820" cy="3657600"/>
          </a:xfrm>
          <a:prstGeom prst="roundRect">
            <a:avLst>
              <a:gd name="adj" fmla="val 2000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239572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Memory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743200"/>
            <a:ext cx="508863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current conversation / task context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the LLM's context window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or summarized after the task ends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5060" y="2286000"/>
            <a:ext cx="5417820" cy="3657600"/>
          </a:xfrm>
          <a:prstGeom prst="roundRect">
            <a:avLst>
              <a:gd name="adj" fmla="val 2000"/>
            </a:avLst>
          </a:prstGeom>
          <a:solidFill>
            <a:srgbClr val="FBF4E8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59652" y="2395728"/>
            <a:ext cx="5088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Memory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9652" y="2743200"/>
            <a:ext cx="508863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sessions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stored in a vector database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via similarity search (RAG) when relevant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A0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Summary, Examples &amp; Key Takeaways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represents the shift from AI that answers to AI that acts — combining reasoning, tools, memory, and autonomy into systems that pursue goals independently.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088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examples: AI coding agents, autonomous research assistants, workflow-automation bots, end-to-end customer-service agents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Agent = Perceive + Reason + Act; Agentic AI adds planning, tools, and memory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Perception → Planning → Execution → Learning (repeats)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Reactive vs Deliberative vs Hybrid vs Multi-Agent depends on task complexity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Muzamil Aslam  ·  Apex Institute of Management, Chandigarh University  ·  Open for Q&amp;A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Apex Institute of Management, Chandigarh University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2026-09-24T08:48:18Z</dcterms:created>
  <dcterms:modified xsi:type="dcterms:W3CDTF">2026-09-24T08:48:18Z</dcterms:modified>
</cp:coreProperties>
</file>